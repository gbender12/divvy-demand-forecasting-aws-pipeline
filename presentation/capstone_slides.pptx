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baseline="0"/>
              <a:t>Percentage-Based Forecast Error Comparison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Sheet1!$E$34</c:f>
              <c:strCache>
                <c:ptCount val="1"/>
                <c:pt idx="0">
                  <c:v>Baseline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Sheet1!$D$35:$D$36</c:f>
              <c:strCache>
                <c:ptCount val="2"/>
                <c:pt idx="0">
                  <c:v>WMAPE</c:v>
                </c:pt>
                <c:pt idx="1">
                  <c:v>Non-Zero MAPE</c:v>
                </c:pt>
              </c:strCache>
            </c:strRef>
          </c:cat>
          <c:val>
            <c:numRef>
              <c:f>Sheet1!$E$35:$E$36</c:f>
              <c:numCache>
                <c:formatCode>0.0%</c:formatCode>
                <c:ptCount val="2"/>
                <c:pt idx="0">
                  <c:v>1.9278</c:v>
                </c:pt>
                <c:pt idx="1">
                  <c:v>0.82740000000000002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4D-4488-86EC-BC769F020957}"/>
            </c:ext>
          </c:extLst>
        </c:ser>
        <c:ser>
          <c:idx val="1"/>
          <c:order val="1"/>
          <c:tx>
            <c:strRef>
              <c:f>Sheet1!$F$34</c:f>
              <c:strCache>
                <c:ptCount val="1"/>
                <c:pt idx="0">
                  <c:v>Improved Model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Sheet1!$D$35:$D$36</c:f>
              <c:strCache>
                <c:ptCount val="2"/>
                <c:pt idx="0">
                  <c:v>WMAPE</c:v>
                </c:pt>
                <c:pt idx="1">
                  <c:v>Non-Zero MAPE</c:v>
                </c:pt>
              </c:strCache>
            </c:strRef>
          </c:cat>
          <c:val>
            <c:numRef>
              <c:f>Sheet1!$F$35:$F$36</c:f>
              <c:numCache>
                <c:formatCode>0.0%</c:formatCode>
                <c:ptCount val="2"/>
                <c:pt idx="0">
                  <c:v>1.25281</c:v>
                </c:pt>
                <c:pt idx="1">
                  <c:v>0.60513669999999997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4D-4488-86EC-BC769F020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503166831"/>
        <c:axId val="503168271"/>
      </c:barChart>
      <c:catAx>
        <c:axId val="503166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168271"/>
        <c:crosses val="autoZero"/>
        <c:auto val="1"/>
        <c:lblAlgn val="ctr"/>
        <c:lblOffset val="100"/>
        <c:noMultiLvlLbl val="0"/>
      </c:catAx>
      <c:valAx>
        <c:axId val="503168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166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B0FF-7A20-4C28-AB70-135D6F2FF82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8993E-7068-4283-98B8-D53A9E1AF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8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8993E-7068-4283-98B8-D53A9E1AF9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52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8993E-7068-4283-98B8-D53A9E1AF9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A994-2D4F-3776-36F1-7BE1F2359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0" y="1085849"/>
            <a:ext cx="8791575" cy="15414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Forecasting Divvy Bike Demand for Proactive Rebalancing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38C17F-05FE-342D-A8A0-A18CAF292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1452" y="2815432"/>
            <a:ext cx="9209089" cy="303926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2200" b="1" cap="none" dirty="0"/>
              <a:t>An AWS data engineering capstone project</a:t>
            </a:r>
          </a:p>
          <a:p>
            <a:pPr algn="ctr">
              <a:lnSpc>
                <a:spcPct val="100000"/>
              </a:lnSpc>
            </a:pPr>
            <a:r>
              <a:rPr lang="en-US" b="1" cap="none" dirty="0"/>
              <a:t>Gordon Bender</a:t>
            </a:r>
            <a:br>
              <a:rPr lang="en-US" b="1" cap="none" dirty="0"/>
            </a:br>
            <a:r>
              <a:rPr lang="en-US" cap="none" dirty="0"/>
              <a:t>Software engineer focused on data and ETL development</a:t>
            </a:r>
          </a:p>
          <a:p>
            <a:pPr algn="ctr">
              <a:lnSpc>
                <a:spcPct val="100000"/>
              </a:lnSpc>
            </a:pPr>
            <a:r>
              <a:rPr lang="en-US" b="1" cap="none" dirty="0"/>
              <a:t>Problem</a:t>
            </a:r>
            <a:br>
              <a:rPr lang="en-US" b="1" cap="none" dirty="0"/>
            </a:br>
            <a:r>
              <a:rPr lang="en-US" cap="none" dirty="0"/>
              <a:t>Divvy bike demand changes by station and hour, making proactive rebalancing difficult</a:t>
            </a:r>
          </a:p>
          <a:p>
            <a:pPr algn="ctr">
              <a:lnSpc>
                <a:spcPct val="100000"/>
              </a:lnSpc>
            </a:pPr>
            <a:r>
              <a:rPr lang="en-US" b="1" cap="none" dirty="0"/>
              <a:t>Hypothesis</a:t>
            </a:r>
            <a:br>
              <a:rPr lang="en-US" b="1" cap="none" dirty="0"/>
            </a:br>
            <a:r>
              <a:rPr lang="en-US" cap="none" dirty="0"/>
              <a:t>The forecast will not meet the target accuracy threshold of MAPE ≤ 10%</a:t>
            </a:r>
          </a:p>
        </p:txBody>
      </p:sp>
    </p:spTree>
    <p:extLst>
      <p:ext uri="{BB962C8B-B14F-4D97-AF65-F5344CB8AC3E}">
        <p14:creationId xmlns:p14="http://schemas.microsoft.com/office/powerpoint/2010/main" val="365148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C1C6-9B7B-3B86-4125-849E07702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Analysis Process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0F23B4-8DDD-AD21-16E2-5ACC446C6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9" y="2301617"/>
            <a:ext cx="12001500" cy="341947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7286B22-12C3-C6C5-A8A1-687C43FA5D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7590" y="1913200"/>
            <a:ext cx="8842164" cy="155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sz="1900" dirty="0"/>
              <a:t> Public Divvy trip data was loaded into AWS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en-US" altLang="en-US" sz="1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900" dirty="0"/>
              <a:t> </a:t>
            </a:r>
            <a:r>
              <a:rPr lang="en-US" sz="1900" dirty="0"/>
              <a:t>AWS Glue was used to clean and prepare the data</a:t>
            </a:r>
            <a:endParaRPr lang="en-US" altLang="en-US" sz="1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en-US" altLang="en-US" sz="1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900" dirty="0"/>
              <a:t> </a:t>
            </a:r>
            <a:r>
              <a:rPr lang="en-US" sz="1900" dirty="0"/>
              <a:t>A dense station-hour grid was created to include zero-demand hours before forecasting</a:t>
            </a:r>
            <a:endParaRPr lang="en-US" altLang="en-US" sz="1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9DA443-A092-C94A-E971-B5716B7DAB5C}"/>
              </a:ext>
            </a:extLst>
          </p:cNvPr>
          <p:cNvSpPr txBox="1"/>
          <p:nvPr/>
        </p:nvSpPr>
        <p:spPr>
          <a:xfrm>
            <a:off x="2454272" y="5925621"/>
            <a:ext cx="7280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Data source: Divvy Bikes (n.d.); U.S. General Services Administration (2026)</a:t>
            </a:r>
          </a:p>
        </p:txBody>
      </p:sp>
    </p:spTree>
    <p:extLst>
      <p:ext uri="{BB962C8B-B14F-4D97-AF65-F5344CB8AC3E}">
        <p14:creationId xmlns:p14="http://schemas.microsoft.com/office/powerpoint/2010/main" val="110626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B4EF-917E-32F8-CA3B-9C107A801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11187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4C7AA-0C17-079A-0D2E-04A7421DD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581" y="1854200"/>
            <a:ext cx="4741069" cy="4392613"/>
          </a:xfrm>
        </p:spPr>
        <p:txBody>
          <a:bodyPr>
            <a:normAutofit/>
          </a:bodyPr>
          <a:lstStyle/>
          <a:p>
            <a:r>
              <a:rPr lang="en-US" dirty="0"/>
              <a:t>The improved model outperformed the baseline on all reported measures</a:t>
            </a:r>
          </a:p>
          <a:p>
            <a:r>
              <a:rPr lang="en-US" dirty="0"/>
              <a:t>Error still remained above the project’s target accuracy threshold</a:t>
            </a:r>
          </a:p>
          <a:p>
            <a:r>
              <a:rPr lang="en-US" dirty="0"/>
              <a:t>The results supported the hypothesis rather than the alternative hypothesis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12FB40F-403B-C419-B016-C2CF1C149A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6938704"/>
              </p:ext>
            </p:extLst>
          </p:nvPr>
        </p:nvGraphicFramePr>
        <p:xfrm>
          <a:off x="5835650" y="1854200"/>
          <a:ext cx="5410200" cy="3615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1677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D6C4-82A8-90EC-0290-6B62AA3E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Limitations and Proposed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BC150-D3C1-06A2-D2A7-7B862E58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37004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The dataset had many zero-demand station-hour periods, which made forecasting harder</a:t>
            </a:r>
          </a:p>
          <a:p>
            <a:pPr lvl="1"/>
            <a:r>
              <a:rPr lang="en-US" dirty="0"/>
              <a:t>The model relied mostly on historical trip patterns and did not include outside factors like weather or events</a:t>
            </a:r>
          </a:p>
          <a:p>
            <a:pPr lvl="1"/>
            <a:r>
              <a:rPr lang="en-US" dirty="0"/>
              <a:t>AWS Glue and Spark were useful for scale, but slower for testing and debugging</a:t>
            </a:r>
          </a:p>
          <a:p>
            <a:r>
              <a:rPr lang="en-US" dirty="0"/>
              <a:t>Proposed actions</a:t>
            </a:r>
          </a:p>
          <a:p>
            <a:pPr lvl="1"/>
            <a:r>
              <a:rPr lang="en-US" dirty="0"/>
              <a:t>Do not use the forecast as a stand-alone operational tool yet</a:t>
            </a:r>
          </a:p>
          <a:p>
            <a:pPr lvl="1"/>
            <a:r>
              <a:rPr lang="en-US" dirty="0"/>
              <a:t>Use it as a prioritization tool to flag stations and time periods that may need attention</a:t>
            </a:r>
          </a:p>
          <a:p>
            <a:pPr lvl="1"/>
            <a:r>
              <a:rPr lang="en-US" dirty="0"/>
              <a:t>Improve the model with additional features, such as weather or event data, and retest</a:t>
            </a:r>
          </a:p>
        </p:txBody>
      </p:sp>
    </p:spTree>
    <p:extLst>
      <p:ext uri="{BB962C8B-B14F-4D97-AF65-F5344CB8AC3E}">
        <p14:creationId xmlns:p14="http://schemas.microsoft.com/office/powerpoint/2010/main" val="95587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167D3-33D2-AB93-0619-30E3B0C4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Expected Benefits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8CA91-844C-BE26-BAC2-AC6B04412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243" y="2097088"/>
            <a:ext cx="10066337" cy="3541714"/>
          </a:xfrm>
        </p:spPr>
        <p:txBody>
          <a:bodyPr>
            <a:normAutofit/>
          </a:bodyPr>
          <a:lstStyle/>
          <a:p>
            <a:r>
              <a:rPr lang="en-US" dirty="0"/>
              <a:t>Demonstrated that historical Divvy trip data contains useful predictive signal</a:t>
            </a:r>
          </a:p>
          <a:p>
            <a:r>
              <a:rPr lang="en-US" dirty="0"/>
              <a:t>Reduced forecast error versus the baseline by about 35.0% in MAE, 36.6% in RMSE, 35.0% in WMAPE, and 26.9% in non-zero MAPE</a:t>
            </a:r>
          </a:p>
          <a:p>
            <a:r>
              <a:rPr lang="en-US" dirty="0"/>
              <a:t>Created a reusable AWS workflow that can process demand data across about 3,394 stations and roughly 38.2 million station-hour rows</a:t>
            </a:r>
          </a:p>
          <a:p>
            <a:r>
              <a:rPr lang="en-US" dirty="0"/>
              <a:t>Provides a benchmark that future model improvements can be measured against</a:t>
            </a:r>
          </a:p>
        </p:txBody>
      </p:sp>
    </p:spTree>
    <p:extLst>
      <p:ext uri="{BB962C8B-B14F-4D97-AF65-F5344CB8AC3E}">
        <p14:creationId xmlns:p14="http://schemas.microsoft.com/office/powerpoint/2010/main" val="1194878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CA59-B53C-AB36-F6B6-FCBE348B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2BC84-C85C-70DE-0AF7-D2EAD3A07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979737"/>
            <a:ext cx="9905999" cy="1300163"/>
          </a:xfrm>
        </p:spPr>
        <p:txBody>
          <a:bodyPr>
            <a:normAutofit/>
          </a:bodyPr>
          <a:lstStyle/>
          <a:p>
            <a:r>
              <a:rPr lang="en-US" dirty="0"/>
              <a:t>Divvy Bikes. (n.d.). </a:t>
            </a:r>
            <a:r>
              <a:rPr lang="en-US" i="1" dirty="0"/>
              <a:t>System data</a:t>
            </a:r>
            <a:r>
              <a:rPr lang="en-US" dirty="0"/>
              <a:t>. Divvy Bikes website</a:t>
            </a:r>
          </a:p>
          <a:p>
            <a:r>
              <a:rPr lang="en-US" dirty="0"/>
              <a:t>U.S. General Services Administration. (2026). </a:t>
            </a:r>
            <a:r>
              <a:rPr lang="en-US" i="1" dirty="0"/>
              <a:t>Divvy trips</a:t>
            </a:r>
            <a:r>
              <a:rPr lang="en-US" dirty="0"/>
              <a:t>. Data.gov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0954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{DC04A2AA-ED4E-412C-974A-283473D122E8}TF6d5feb1e-e145-43f1-b745-cb4b54c5ee975d365c52-ce22229b0e48</Template>
  <TotalTime>140</TotalTime>
  <Words>349</Words>
  <Application>Microsoft Office PowerPoint</Application>
  <PresentationFormat>Widescreen</PresentationFormat>
  <Paragraphs>36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Tw Cen MT</vt:lpstr>
      <vt:lpstr>Circuit</vt:lpstr>
      <vt:lpstr>Forecasting Divvy Bike Demand for Proactive Rebalancing</vt:lpstr>
      <vt:lpstr>Data Analysis Process</vt:lpstr>
      <vt:lpstr>Findings</vt:lpstr>
      <vt:lpstr>Limitations and Proposed Actions</vt:lpstr>
      <vt:lpstr>Expected Benefits of the Study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Bender</dc:creator>
  <cp:lastModifiedBy>Gordon Bender</cp:lastModifiedBy>
  <cp:revision>30</cp:revision>
  <dcterms:created xsi:type="dcterms:W3CDTF">2026-03-18T01:15:30Z</dcterms:created>
  <dcterms:modified xsi:type="dcterms:W3CDTF">2026-03-19T00:29:17Z</dcterms:modified>
</cp:coreProperties>
</file>